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项目当前能本地生成候选标记建议，但不输出最终实验标记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0160">
            <a:solidFill>
              <a:srgbClr val="D6DA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breeding-agent | 谷子多组学育种 workflow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50" dirty="0"/>
          </a:p>
        </p:txBody>
      </p:sp>
      <p:pic>
        <p:nvPicPr>
          <p:cNvPr id="6" name="Image 0" descr="/home/li/projects/breeding-agent/docs/report/assets/application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89232"/>
            <a:ext cx="7772400" cy="141669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58200" y="1143000"/>
            <a:ext cx="306324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研究对象固定为谷子黄酮相关候选标记推荐。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默认读取本地文件，不调用外部 API。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输出是候选建议、报告和验证计划，不是最终 KASP/CAPS 标记。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458200" y="3611880"/>
            <a:ext cx="1600200" cy="310896"/>
          </a:xfrm>
          <a:prstGeom prst="roundRect">
            <a:avLst>
              <a:gd name="adj" fmla="val 11765"/>
            </a:avLst>
          </a:prstGeom>
          <a:solidFill>
            <a:srgbClr val="EAF2F8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31352" y="3685032"/>
            <a:ext cx="1453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inputs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8458200" y="4023360"/>
            <a:ext cx="1600200" cy="310896"/>
          </a:xfrm>
          <a:prstGeom prst="roundRect">
            <a:avLst>
              <a:gd name="adj" fmla="val 11765"/>
            </a:avLst>
          </a:prstGeom>
          <a:solidFill>
            <a:srgbClr val="E8F4EA"/>
          </a:solidFill>
          <a:ln w="10160">
            <a:solidFill>
              <a:srgbClr val="2F6F3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31352" y="4096512"/>
            <a:ext cx="1453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output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02920" y="6291072"/>
            <a:ext cx="10515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docs/architecture_overview.md, AGENTS.md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代码层把数据处理、Agent 编排、QA 和展示分开实现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0160">
            <a:solidFill>
              <a:srgbClr val="D6DA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breeding-agent | 谷子多组学育种 workflow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  <p:pic>
        <p:nvPicPr>
          <p:cNvPr id="6" name="Image 0" descr="/home/li/projects/breeding-agent/docs/report/assets/technical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0975" y="914400"/>
            <a:ext cx="5076795" cy="5120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09560" y="1078992"/>
            <a:ext cx="3520440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34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integration/ 聚合 evidence 并生成候选表。</a:t>
            </a:r>
            <a:endParaRPr lang="en-US" sz="1340" dirty="0"/>
          </a:p>
          <a:p>
            <a:r>
              <a:rPr lang="en-US" sz="134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graphs/ 承载 LangGraph 主线多 Agent 编排。</a:t>
            </a:r>
            <a:endParaRPr lang="en-US" sz="1340" dirty="0"/>
          </a:p>
          <a:p>
            <a:r>
              <a:rPr lang="en-US" sz="134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llm/ 只服务 ReviewerAgent 的可选审阅增强。</a:t>
            </a:r>
            <a:endParaRPr lang="en-US" sz="1340" dirty="0"/>
          </a:p>
          <a:p>
            <a:r>
              <a:rPr lang="en-US" sz="134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FinalQAAgent 和 output_guard 负责发布前检查。</a:t>
            </a:r>
            <a:endParaRPr lang="en-US" sz="1340" dirty="0"/>
          </a:p>
        </p:txBody>
      </p:sp>
      <p:sp>
        <p:nvSpPr>
          <p:cNvPr id="8" name="Shape 5"/>
          <p:cNvSpPr/>
          <p:nvPr/>
        </p:nvSpPr>
        <p:spPr>
          <a:xfrm>
            <a:off x="7909560" y="4480560"/>
            <a:ext cx="1600200" cy="310896"/>
          </a:xfrm>
          <a:prstGeom prst="roundRect">
            <a:avLst>
              <a:gd name="adj" fmla="val 11765"/>
            </a:avLst>
          </a:prstGeom>
          <a:solidFill>
            <a:srgbClr val="EAF2F8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82712" y="4553712"/>
            <a:ext cx="1453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modules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9710928" y="4480560"/>
            <a:ext cx="160020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0160">
            <a:solidFill>
              <a:srgbClr val="9B1C1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84080" y="4553712"/>
            <a:ext cx="1453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only UI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02920" y="6291072"/>
            <a:ext cx="10515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docs/code_reading_guide.md, docs/architecture_overview.md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学长 mini 数据包先转换为标准 evidence，再进入报告生成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0160">
            <a:solidFill>
              <a:srgbClr val="D6DA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breeding-agent | 谷子多组学育种 workflow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  <p:pic>
        <p:nvPicPr>
          <p:cNvPr id="6" name="Image 0" descr="/home/li/projects/breeding-agent/docs/report/assets/evidence_to_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319053"/>
            <a:ext cx="6903720" cy="24759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18120" y="1143000"/>
            <a:ext cx="356616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3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转录组：bam/ 中所有文件；代谢组：metabolome_raw_3372.tsv。</a:t>
            </a:r>
            <a:endParaRPr lang="en-US" sz="1360" dirty="0"/>
          </a:p>
          <a:p>
            <a:r>
              <a:rPr lang="en-US" sz="13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基因组：genome.fa + genome.gff；注释：local_region_emapper_annotations.tsv。</a:t>
            </a:r>
            <a:endParaRPr lang="en-US" sz="1360" dirty="0"/>
          </a:p>
          <a:p>
            <a:r>
              <a:rPr lang="en-US" sz="13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文献证据只读取已验证 DOI，不新增 DOI。</a:t>
            </a:r>
            <a:endParaRPr lang="en-US" sz="1360" dirty="0"/>
          </a:p>
          <a:p>
            <a:r>
              <a:rPr lang="en-US" sz="13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variant_status=not_called 时不写具体 SNP/InDel 位置。</a:t>
            </a:r>
            <a:endParaRPr lang="en-US" sz="1360" dirty="0"/>
          </a:p>
        </p:txBody>
      </p:sp>
      <p:sp>
        <p:nvSpPr>
          <p:cNvPr id="8" name="Text 5"/>
          <p:cNvSpPr/>
          <p:nvPr/>
        </p:nvSpPr>
        <p:spPr>
          <a:xfrm>
            <a:off x="502920" y="6291072"/>
            <a:ext cx="10515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scripts/demo/create_flavonoid_marker_evidence_from_package.py, docs/flavonoid_marker_aggregation_usage.md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三个高优先基因已有统计证据，但还不是育种验证结论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0160">
            <a:solidFill>
              <a:srgbClr val="D6DA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breeding-agent | 谷子多组学育种 workflow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8368" y="1078992"/>
            <a:ext cx="1572768" cy="411480"/>
          </a:xfrm>
          <a:prstGeom prst="rect">
            <a:avLst/>
          </a:prstGeom>
          <a:solidFill>
            <a:srgbClr val="EAF2F8"/>
          </a:solidFill>
          <a:ln w="6985">
            <a:solidFill>
              <a:srgbClr val="D6DAE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gene_id</a:t>
            </a:r>
            <a:endParaRPr lang="en-US" sz="940" dirty="0"/>
          </a:p>
        </p:txBody>
      </p:sp>
      <p:sp>
        <p:nvSpPr>
          <p:cNvPr id="7" name="Text 5"/>
          <p:cNvSpPr/>
          <p:nvPr/>
        </p:nvSpPr>
        <p:spPr>
          <a:xfrm>
            <a:off x="2231136" y="1078992"/>
            <a:ext cx="1024128" cy="411480"/>
          </a:xfrm>
          <a:prstGeom prst="rect">
            <a:avLst/>
          </a:prstGeom>
          <a:solidFill>
            <a:srgbClr val="EAF2F8"/>
          </a:solidFill>
          <a:ln w="6985">
            <a:solidFill>
              <a:srgbClr val="D6DAE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log2FC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3255264" y="1078992"/>
            <a:ext cx="1207008" cy="411480"/>
          </a:xfrm>
          <a:prstGeom prst="rect">
            <a:avLst/>
          </a:prstGeom>
          <a:solidFill>
            <a:srgbClr val="EAF2F8"/>
          </a:solidFill>
          <a:ln w="6985">
            <a:solidFill>
              <a:srgbClr val="D6DAE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padj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4462272" y="1078992"/>
            <a:ext cx="1627632" cy="411480"/>
          </a:xfrm>
          <a:prstGeom prst="rect">
            <a:avLst/>
          </a:prstGeom>
          <a:solidFill>
            <a:srgbClr val="EAF2F8"/>
          </a:solidFill>
          <a:ln w="6985">
            <a:solidFill>
              <a:srgbClr val="D6DAE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</a:t>
            </a:r>
            <a:endParaRPr lang="en-US" sz="940" dirty="0"/>
          </a:p>
        </p:txBody>
      </p:sp>
      <p:sp>
        <p:nvSpPr>
          <p:cNvPr id="10" name="Text 8"/>
          <p:cNvSpPr/>
          <p:nvPr/>
        </p:nvSpPr>
        <p:spPr>
          <a:xfrm>
            <a:off x="6089904" y="1078992"/>
            <a:ext cx="1243584" cy="411480"/>
          </a:xfrm>
          <a:prstGeom prst="rect">
            <a:avLst/>
          </a:prstGeom>
          <a:solidFill>
            <a:srgbClr val="EAF2F8"/>
          </a:solidFill>
          <a:ln w="6985">
            <a:solidFill>
              <a:srgbClr val="D6DAE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metabolite r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658368" y="1490472"/>
            <a:ext cx="1572768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D6DAE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Si9g04210.1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2231136" y="1490472"/>
            <a:ext cx="1024128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D6DAE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-6.5426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3255264" y="1490472"/>
            <a:ext cx="1207008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D6DAE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5.62e-158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4462272" y="1490472"/>
            <a:ext cx="1627632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D6DAE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higher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6089904" y="1490472"/>
            <a:ext cx="1243584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D6DAE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-0.9958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658368" y="1901952"/>
            <a:ext cx="1572768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D6DAE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Si5g31340.1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2231136" y="1901952"/>
            <a:ext cx="1024128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D6DAE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1.5744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3255264" y="1901952"/>
            <a:ext cx="1207008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D6DAE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4.71e-07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4462272" y="1901952"/>
            <a:ext cx="1627632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D6DAE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higher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6089904" y="1901952"/>
            <a:ext cx="1243584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D6DAE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0.9888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658368" y="2313432"/>
            <a:ext cx="1572768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D6DAE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Si9g34380.1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2231136" y="2313432"/>
            <a:ext cx="1024128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D6DAE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3.2050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3255264" y="2313432"/>
            <a:ext cx="1207008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D6DAE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8.95e-14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4462272" y="2313432"/>
            <a:ext cx="1627632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D6DAE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higher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6089904" y="2313432"/>
            <a:ext cx="1243584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D6DAE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0.9955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58368" y="3154680"/>
            <a:ext cx="35204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3300984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Si9g04210.1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22960" y="354787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baseMean 3234.58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2960" y="3904488"/>
            <a:ext cx="3154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Green_mean 6401.01 vs Golden_mean 68.15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4315968" y="3154680"/>
            <a:ext cx="35204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0" y="3300984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Si5g31340.1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480560" y="354787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baseMean 173.00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80560" y="3904488"/>
            <a:ext cx="3154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Green_mean 86.85 vs Golden_mean 259.16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7973568" y="3154680"/>
            <a:ext cx="35204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A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38160" y="3300984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6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Si9g34380.1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138160" y="354787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baseMean 73.05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138160" y="3904488"/>
            <a:ext cx="3154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Green_mean 14.38 vs Golden_mean 131.71</a:t>
            </a:r>
            <a:endParaRPr lang="en-US" sz="860" dirty="0"/>
          </a:p>
        </p:txBody>
      </p:sp>
      <p:sp>
        <p:nvSpPr>
          <p:cNvPr id="38" name="Text 36"/>
          <p:cNvSpPr/>
          <p:nvPr/>
        </p:nvSpPr>
        <p:spPr>
          <a:xfrm>
            <a:off x="7973568" y="1143000"/>
            <a:ext cx="32461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34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这些值是 package-derived evidence。</a:t>
            </a:r>
            <a:endParaRPr lang="en-US" sz="1340" dirty="0"/>
          </a:p>
          <a:p>
            <a:r>
              <a:rPr lang="en-US" sz="134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仍需更大群体的基因型和黄酮含量数据验证关联。</a:t>
            </a:r>
            <a:endParaRPr lang="en-US" sz="1340" dirty="0"/>
          </a:p>
        </p:txBody>
      </p:sp>
      <p:sp>
        <p:nvSpPr>
          <p:cNvPr id="39" name="Text 37"/>
          <p:cNvSpPr/>
          <p:nvPr/>
        </p:nvSpPr>
        <p:spPr>
          <a:xfrm>
            <a:off x="502920" y="6291072"/>
            <a:ext cx="10515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AGENTS.md fixed mini-evidence statistics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规则化 aggregation 只给候选标记类型建议，不写最终标记结论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0160">
            <a:solidFill>
              <a:srgbClr val="D6DA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breeding-agent | 谷子多组学育种 workflow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  <p:pic>
        <p:nvPicPr>
          <p:cNvPr id="6" name="Image 0" descr="/home/li/projects/breeding-agent/docs/report/assets/evidence_to_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402461"/>
            <a:ext cx="5852160" cy="209879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76288" y="1133856"/>
            <a:ext cx="4434840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3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聚合 transcriptomics、metabolomics、annotation、literature 和 variant evidence。</a:t>
            </a:r>
            <a:endParaRPr lang="en-US" sz="1360" dirty="0"/>
          </a:p>
          <a:p>
            <a:r>
              <a:rPr lang="en-US" sz="13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SNP/InDel/KASP/CAPS 是候选类型建议；KASP/CAPS 表只是 preliminary screening。</a:t>
            </a:r>
            <a:endParaRPr lang="en-US" sz="1360" dirty="0"/>
          </a:p>
          <a:p>
            <a:r>
              <a:rPr lang="en-US" sz="13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核心建议必须保留“群体”：围绕三个基因开发候选 SNP/InDel/KASP 标记，再用更大群体数据验证关联。</a:t>
            </a:r>
            <a:endParaRPr lang="en-US" sz="1360" dirty="0"/>
          </a:p>
        </p:txBody>
      </p:sp>
      <p:sp>
        <p:nvSpPr>
          <p:cNvPr id="8" name="Shape 5"/>
          <p:cNvSpPr/>
          <p:nvPr/>
        </p:nvSpPr>
        <p:spPr>
          <a:xfrm>
            <a:off x="6876288" y="4434840"/>
            <a:ext cx="160020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0160">
            <a:solidFill>
              <a:srgbClr val="9B1C1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49440" y="4507992"/>
            <a:ext cx="1453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fabricated DOI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8686800" y="4434840"/>
            <a:ext cx="160020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0160">
            <a:solidFill>
              <a:srgbClr val="9B1C1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59952" y="4507992"/>
            <a:ext cx="1453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fabricated variants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02920" y="6291072"/>
            <a:ext cx="10515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src/breeding_agent/integration/flavonoid_marker_qa.py, docs/flavonoid_marker_aggregation_usage.md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是主线多 Agent 编排层，默认仍运行规则 Agent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0160">
            <a:solidFill>
              <a:srgbClr val="D6DA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breeding-agent | 谷子多组学育种 workflow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  <p:pic>
        <p:nvPicPr>
          <p:cNvPr id="6" name="Image 0" descr="/home/li/projects/breeding-agent/docs/report/assets/langgraph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558086"/>
            <a:ext cx="10927080" cy="9188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5321808"/>
            <a:ext cx="1051560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2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负责 workflow / agent graph 编排，不承担模型推理。</a:t>
            </a:r>
            <a:endParaRPr lang="en-US" sz="1260" dirty="0"/>
          </a:p>
          <a:p>
            <a:r>
              <a:rPr lang="en-US" sz="12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 node 记录 trace、warnings、limitations 和 passed 状态。</a:t>
            </a:r>
            <a:endParaRPr lang="en-US" sz="1260" dirty="0"/>
          </a:p>
          <a:p>
            <a:r>
              <a:rPr lang="en-US" sz="12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Agents 是并行 POC，不替代 LangGraph。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502920" y="6291072"/>
            <a:ext cx="10515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docs/langgraph_flavonoid_marker_workflow.md, src/breeding_agent/graphs/flavonoid_marker_graph.py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目前只增强 ReviewerAgent，OutputGuard 和 FinalQAAgent 拦截风险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0160">
            <a:solidFill>
              <a:srgbClr val="D6DA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breeding-agent | 谷子多组学育种 workflow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50" dirty="0"/>
          </a:p>
        </p:txBody>
      </p:sp>
      <p:pic>
        <p:nvPicPr>
          <p:cNvPr id="6" name="Image 0" descr="/home/li/projects/breeding-agent/docs/report/assets/llm_reviewer_guardr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7006" y="914400"/>
            <a:ext cx="3041308" cy="5074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01000" y="1097280"/>
            <a:ext cx="3429000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3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只有 reviewer_agent_node 可选调用本地 OpenAI-compatible LLM。</a:t>
            </a:r>
            <a:endParaRPr lang="en-US" sz="1330" dirty="0"/>
          </a:p>
          <a:p>
            <a:r>
              <a:rPr lang="en-US" sz="13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模型只增强 reviewer notes，不直接生成 SNP/InDel/KASP/CAPS 结论。</a:t>
            </a:r>
            <a:endParaRPr lang="en-US" sz="1330" dirty="0"/>
          </a:p>
          <a:p>
            <a:r>
              <a:rPr lang="en-US" sz="13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OutputGuard 拦截伪造 DOI、伪造位点、LowQual 优先化和过度 KASP/CAPS 表述。</a:t>
            </a:r>
            <a:endParaRPr lang="en-US" sz="1330" dirty="0"/>
          </a:p>
          <a:p>
            <a:r>
              <a:rPr lang="en-US" sz="13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失败、空输出或 guard 不通过时回退到规则 ReviewerAgent，再进入 FinalQAAgent。</a:t>
            </a:r>
            <a:endParaRPr lang="en-US" sz="1330" dirty="0"/>
          </a:p>
        </p:txBody>
      </p:sp>
      <p:sp>
        <p:nvSpPr>
          <p:cNvPr id="8" name="Shape 5"/>
          <p:cNvSpPr/>
          <p:nvPr/>
        </p:nvSpPr>
        <p:spPr>
          <a:xfrm>
            <a:off x="8001000" y="4709160"/>
            <a:ext cx="1600200" cy="310896"/>
          </a:xfrm>
          <a:prstGeom prst="roundRect">
            <a:avLst>
              <a:gd name="adj" fmla="val 11765"/>
            </a:avLst>
          </a:prstGeom>
          <a:solidFill>
            <a:srgbClr val="EAF2F8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74152" y="4782312"/>
            <a:ext cx="1453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enable_thinking=false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02920" y="6291072"/>
            <a:ext cx="10515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docs/local_llm_reviewer_agent.md, src/breeding_agent/llm/output_guard.py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候选区域 variant calling 提供初筛证据，不能替代 WGS/GBS 群体验证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0160">
            <a:solidFill>
              <a:srgbClr val="D6DA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breeding-agent | 谷子多组学育种 workflow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13232" y="1115568"/>
            <a:ext cx="3154680" cy="3429000"/>
          </a:xfrm>
          <a:prstGeom prst="rect">
            <a:avLst/>
          </a:prstGeom>
          <a:solidFill>
            <a:srgbClr val="EAF2F8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3350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region calling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60704" y="1938528"/>
            <a:ext cx="256032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2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samtools / bcftools</a:t>
            </a:r>
            <a:endParaRPr lang="en-US" sz="1260" dirty="0"/>
          </a:p>
          <a:p>
            <a:r>
              <a:rPr lang="en-US" sz="12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 VCF 位点进入候选表</a:t>
            </a:r>
            <a:endParaRPr lang="en-US" sz="1260" dirty="0"/>
          </a:p>
          <a:p>
            <a:r>
              <a:rPr lang="en-US" sz="12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/ LowQual 分层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4389120" y="1115568"/>
            <a:ext cx="3154680" cy="3429000"/>
          </a:xfrm>
          <a:prstGeom prst="rect">
            <a:avLst/>
          </a:prstGeom>
          <a:solidFill>
            <a:srgbClr val="E8F4EA"/>
          </a:solidFill>
          <a:ln w="12700">
            <a:solidFill>
              <a:srgbClr val="2F6F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13350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Marker screening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736592" y="1938528"/>
            <a:ext cx="256032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2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SNP 可复核 KASP 潜力</a:t>
            </a:r>
            <a:endParaRPr lang="en-US" sz="1260" dirty="0"/>
          </a:p>
          <a:p>
            <a:r>
              <a:rPr lang="en-US" sz="12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 仍需酶切位点筛查</a:t>
            </a:r>
            <a:endParaRPr lang="en-US" sz="1260" dirty="0"/>
          </a:p>
          <a:p>
            <a:r>
              <a:rPr lang="en-US" sz="12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LowQual 只保留可追溯记录</a:t>
            </a:r>
            <a:endParaRPr lang="en-US" sz="1260" dirty="0"/>
          </a:p>
        </p:txBody>
      </p:sp>
      <p:sp>
        <p:nvSpPr>
          <p:cNvPr id="12" name="Shape 10"/>
          <p:cNvSpPr/>
          <p:nvPr/>
        </p:nvSpPr>
        <p:spPr>
          <a:xfrm>
            <a:off x="8065008" y="1115568"/>
            <a:ext cx="3154680" cy="3429000"/>
          </a:xfrm>
          <a:prstGeom prst="rect">
            <a:avLst/>
          </a:prstGeom>
          <a:solidFill>
            <a:srgbClr val="FFF3D6"/>
          </a:solidFill>
          <a:ln w="12700">
            <a:solidFill>
              <a:srgbClr val="A66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6176" y="13350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A6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still needed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412480" y="1938528"/>
            <a:ext cx="256032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2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WGS/GBS 群体变异 calling</a:t>
            </a:r>
            <a:endParaRPr lang="en-US" sz="1260" dirty="0"/>
          </a:p>
          <a:p>
            <a:r>
              <a:rPr lang="en-US" sz="12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基因型-黄酮含量关联</a:t>
            </a:r>
            <a:endParaRPr lang="en-US" sz="1260" dirty="0"/>
          </a:p>
          <a:p>
            <a:r>
              <a:rPr lang="en-US" sz="12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qRT-PCR / LC-MS/MS / Sanger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914400" y="515721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当前边界：候选区域 MVP 输出是初筛证据，不是群体验证结果。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6291072"/>
            <a:ext cx="10515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docs/genomics_variant_calling_usage.md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Gradio 只负责展示和触发，不承载核心 evidence 逻辑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0160">
            <a:solidFill>
              <a:srgbClr val="D6DA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breeding-agent | 谷子多组学育种 workflow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50" dirty="0"/>
          </a:p>
        </p:txBody>
      </p:sp>
      <p:pic>
        <p:nvPicPr>
          <p:cNvPr id="6" name="Image 0" descr="/home/li/projects/breeding-agent/docs/report/assets/gradio_bound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330006"/>
            <a:ext cx="6537960" cy="22437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0" y="1234440"/>
            <a:ext cx="370332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3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Gradio 展示 RNA-seq、代谢组、基因组、integration 和黄酮推荐结果。</a:t>
            </a:r>
            <a:endParaRPr lang="en-US" sz="1360" dirty="0"/>
          </a:p>
          <a:p>
            <a:r>
              <a:rPr lang="en-US" sz="13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核心逻辑留在 workflows、integration、agents 和 graphs。</a:t>
            </a:r>
            <a:endParaRPr lang="en-US" sz="1360" dirty="0"/>
          </a:p>
          <a:p>
            <a:r>
              <a:rPr lang="en-US" sz="13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可展示 LLM reviewer 状态，但不展示本地配置文件内容。</a:t>
            </a:r>
            <a:endParaRPr lang="en-US" sz="1360" dirty="0"/>
          </a:p>
        </p:txBody>
      </p:sp>
      <p:sp>
        <p:nvSpPr>
          <p:cNvPr id="8" name="Shape 5"/>
          <p:cNvSpPr/>
          <p:nvPr/>
        </p:nvSpPr>
        <p:spPr>
          <a:xfrm>
            <a:off x="7498080" y="4160520"/>
            <a:ext cx="1600200" cy="310896"/>
          </a:xfrm>
          <a:prstGeom prst="roundRect">
            <a:avLst>
              <a:gd name="adj" fmla="val 11765"/>
            </a:avLst>
          </a:prstGeom>
          <a:solidFill>
            <a:srgbClr val="EAF2F8"/>
          </a:solidFill>
          <a:ln w="10160">
            <a:solidFill>
              <a:srgbClr val="1F4E7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71232" y="4233672"/>
            <a:ext cx="1453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layer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9308592" y="4160520"/>
            <a:ext cx="1600200" cy="310896"/>
          </a:xfrm>
          <a:prstGeom prst="roundRect">
            <a:avLst>
              <a:gd name="adj" fmla="val 11765"/>
            </a:avLst>
          </a:prstGeom>
          <a:solidFill>
            <a:srgbClr val="E8F4EA"/>
          </a:solidFill>
          <a:ln w="10160">
            <a:solidFill>
              <a:srgbClr val="2F6F3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81744" y="4233672"/>
            <a:ext cx="1453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trigger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02920" y="6291072"/>
            <a:ext cx="10515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docs/gradio_demo_usage.md, src/breeding_agent/web/gradio_app.py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Agents、Lobster-style benchmark 和 Promoter Design 都保持 POC / scaffold 边界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0160">
            <a:solidFill>
              <a:srgbClr val="D6DA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breeding-agent | 谷子多组学育种 workflow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225296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Agents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16352" y="1197864"/>
            <a:ext cx="1600200" cy="310896"/>
          </a:xfrm>
          <a:prstGeom prst="roundRect">
            <a:avLst>
              <a:gd name="adj" fmla="val 11765"/>
            </a:avLst>
          </a:prstGeom>
          <a:solidFill>
            <a:srgbClr val="FFF3D6"/>
          </a:solidFill>
          <a:ln w="10160">
            <a:solidFill>
              <a:srgbClr val="A66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9504" y="1271016"/>
            <a:ext cx="1453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6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663440" y="1225296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复用规则 agents；不调用真实 LLM；不替代 LangGraph。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Lobster-style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816352" y="2029968"/>
            <a:ext cx="160020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0160">
            <a:solidFill>
              <a:srgbClr val="9B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9504" y="2103120"/>
            <a:ext cx="1453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663440" y="2057400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不是真实 Lobster AI run；只做外部范式对照。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685800" y="288950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Promoter Design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816352" y="2862072"/>
            <a:ext cx="1600200" cy="310896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0160">
            <a:solidFill>
              <a:srgbClr val="9B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89504" y="2935224"/>
            <a:ext cx="1453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63440" y="2889504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只定义 schema、数据盘点和占位输出；不生成真实 promoter sequence。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685800" y="372160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reports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816352" y="3694176"/>
            <a:ext cx="1600200" cy="310896"/>
          </a:xfrm>
          <a:prstGeom prst="roundRect">
            <a:avLst>
              <a:gd name="adj" fmla="val 11765"/>
            </a:avLst>
          </a:prstGeom>
          <a:solidFill>
            <a:srgbClr val="E8F4EA"/>
          </a:solidFill>
          <a:ln w="10160">
            <a:solidFill>
              <a:srgbClr val="2F6F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89504" y="3767328"/>
            <a:ext cx="1453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Guarded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63440" y="3721608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manifest、QA 和 reviewer notes 保留边界说明。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914400" y="4983480"/>
            <a:ext cx="10241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这些模块可作为后续扩展入口，但当前组会不能写成真实集成或实验验证已经完成。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6291072"/>
            <a:ext cx="10515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docs/deepagents_flavonoid_marker_poc.md, docs/lobster_external_agent_benchmark.md, docs/promoter_design_task.md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下一阶段应优先补候选位点复核和群体验证证据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0160">
            <a:solidFill>
              <a:srgbClr val="D6DA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6539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breeding-agent | 谷子多组学育种 workflow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11201400" y="6528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5681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81328" y="2112264"/>
            <a:ext cx="1901952" cy="0"/>
          </a:xfrm>
          <a:prstGeom prst="line">
            <a:avLst/>
          </a:prstGeom>
          <a:noFill/>
          <a:ln w="15240">
            <a:solidFill>
              <a:srgbClr val="D6DAE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66928" y="2670048"/>
            <a:ext cx="2176272" cy="1115568"/>
          </a:xfrm>
          <a:prstGeom prst="rect">
            <a:avLst/>
          </a:prstGeom>
          <a:solidFill>
            <a:srgbClr val="EAF2F8"/>
          </a:solidFill>
          <a:ln w="1143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83464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region review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32186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Coverage, quality, flanking sequence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3611880" y="1828800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195681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70248" y="2112264"/>
            <a:ext cx="1901952" cy="0"/>
          </a:xfrm>
          <a:prstGeom prst="line">
            <a:avLst/>
          </a:prstGeom>
          <a:noFill/>
          <a:ln w="15240">
            <a:solidFill>
              <a:srgbClr val="D6DAE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355848" y="2670048"/>
            <a:ext cx="2176272" cy="1115568"/>
          </a:xfrm>
          <a:prstGeom prst="rect">
            <a:avLst/>
          </a:prstGeom>
          <a:solidFill>
            <a:srgbClr val="EAF2F8"/>
          </a:solidFill>
          <a:ln w="1143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02152" y="283464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Marker conversion check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38728" y="32186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KASP/CAPS feasibility, still preliminary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400800" y="1828800"/>
            <a:ext cx="566928" cy="566928"/>
          </a:xfrm>
          <a:prstGeom prst="ellipse">
            <a:avLst/>
          </a:prstGeom>
          <a:solidFill>
            <a:srgbClr val="2F6F3E"/>
          </a:solidFill>
          <a:ln w="12700">
            <a:solidFill>
              <a:srgbClr val="2F6F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95681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59168" y="2112264"/>
            <a:ext cx="1901952" cy="0"/>
          </a:xfrm>
          <a:prstGeom prst="line">
            <a:avLst/>
          </a:prstGeom>
          <a:noFill/>
          <a:ln w="15240">
            <a:solidFill>
              <a:srgbClr val="D6DAE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44768" y="2670048"/>
            <a:ext cx="2176272" cy="1115568"/>
          </a:xfrm>
          <a:prstGeom prst="rect">
            <a:avLst/>
          </a:prstGeom>
          <a:solidFill>
            <a:srgbClr val="E8F4EA"/>
          </a:solidFill>
          <a:ln w="11430">
            <a:solidFill>
              <a:srgbClr val="2F6F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283464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evidence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27648" y="32186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WGS/GBS + genotype-phenotype association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9189720" y="1828800"/>
            <a:ext cx="566928" cy="566928"/>
          </a:xfrm>
          <a:prstGeom prst="ellipse">
            <a:avLst/>
          </a:prstGeom>
          <a:solidFill>
            <a:srgbClr val="A66A00"/>
          </a:solidFill>
          <a:ln w="12700">
            <a:solidFill>
              <a:srgbClr val="A66A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9720" y="195681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933688" y="2670048"/>
            <a:ext cx="2176272" cy="1115568"/>
          </a:xfrm>
          <a:prstGeom prst="rect">
            <a:avLst/>
          </a:prstGeom>
          <a:solidFill>
            <a:srgbClr val="FFF3D6"/>
          </a:solidFill>
          <a:ln w="11430">
            <a:solidFill>
              <a:srgbClr val="A66A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79992" y="283464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Wet-lab validation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16568" y="32186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qRT-PCR, LC-MS/MS, Sanger / target region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914400" y="5102352"/>
            <a:ext cx="102412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2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先复核 PASS SNP/InDel 的 coverage、flanking sequence 和转化潜力。</a:t>
            </a:r>
            <a:endParaRPr lang="en-US" sz="1280" dirty="0"/>
          </a:p>
          <a:p>
            <a:r>
              <a:rPr lang="en-US" sz="12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再扩展 WGS/GBS 群体变异 calling，与黄酮含量做关联验证。</a:t>
            </a:r>
            <a:endParaRPr lang="en-US" sz="1280" dirty="0"/>
          </a:p>
          <a:p>
            <a:r>
              <a:rPr lang="en-US" sz="12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报告发布前继续保留 OutputGuard、FinalQAAgent 和人工 review。</a:t>
            </a:r>
            <a:endParaRPr lang="en-US" sz="1280" dirty="0"/>
          </a:p>
        </p:txBody>
      </p:sp>
      <p:sp>
        <p:nvSpPr>
          <p:cNvPr id="30" name="Text 28"/>
          <p:cNvSpPr/>
          <p:nvPr/>
        </p:nvSpPr>
        <p:spPr>
          <a:xfrm>
            <a:off x="502920" y="6291072"/>
            <a:ext cx="10515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AGENTS.md required boundaries and current workflow docs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breeding-agent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breeding-agent 组会汇报</dc:title>
  <dc:subject>Reproducible crop multi-omics breeding workflow</dc:subject>
  <dc:creator>breeding-agent</dc:creator>
  <cp:lastModifiedBy>breeding-agent</cp:lastModifiedBy>
  <cp:revision>1</cp:revision>
  <dcterms:created xsi:type="dcterms:W3CDTF">2026-05-10T01:40:17Z</dcterms:created>
  <dcterms:modified xsi:type="dcterms:W3CDTF">2026-05-10T01:40:17Z</dcterms:modified>
</cp:coreProperties>
</file>